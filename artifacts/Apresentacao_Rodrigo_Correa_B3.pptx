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0c11fbcd734b3a" /><Relationship Type="http://schemas.openxmlformats.org/officeDocument/2006/relationships/extended-properties" Target="/docProps/app.xml" Id="Rcb925bb96cb341db" /><Relationship Type="http://schemas.openxmlformats.org/officeDocument/2006/relationships/officeDocument" Target="/ppt/presentation.xml" Id="R55bb9c8ee0fa42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084098613e4da8"/>
  </p:sldMasterIdLst>
  <p:notesMasterIdLst>
    <p:notesMasterId xmlns:r="http://schemas.openxmlformats.org/officeDocument/2006/relationships" r:id="R34d39b40635e40f3"/>
  </p:notesMasterIdLst>
  <p:sldIdLst>
    <p:sldId xmlns:r="http://schemas.openxmlformats.org/officeDocument/2006/relationships" id="256" r:id="R1fb7e326f84c4781"/>
    <p:sldId xmlns:r="http://schemas.openxmlformats.org/officeDocument/2006/relationships" id="257" r:id="R531f0a96aefe473c"/>
    <p:sldId xmlns:r="http://schemas.openxmlformats.org/officeDocument/2006/relationships" id="258" r:id="R697cbffa78ed438e"/>
    <p:sldId xmlns:r="http://schemas.openxmlformats.org/officeDocument/2006/relationships" id="259" r:id="Re9da89e21b604d53"/>
    <p:sldId xmlns:r="http://schemas.openxmlformats.org/officeDocument/2006/relationships" id="260" r:id="R3fab5decced9417b"/>
    <p:sldId xmlns:r="http://schemas.openxmlformats.org/officeDocument/2006/relationships" id="261" r:id="Raef510ff522b430e"/>
    <p:sldId xmlns:r="http://schemas.openxmlformats.org/officeDocument/2006/relationships" id="262" r:id="R7498784047ba41cd"/>
    <p:sldId xmlns:r="http://schemas.openxmlformats.org/officeDocument/2006/relationships" id="263" r:id="Rf76f5e14c13b4fb4"/>
    <p:sldId xmlns:r="http://schemas.openxmlformats.org/officeDocument/2006/relationships" id="264" r:id="Rf7d1c7fc280546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742b6af2634a01" /><Relationship Type="http://schemas.openxmlformats.org/officeDocument/2006/relationships/slideMaster" Target="/ppt/slideMasters/slideMaster1.xml" Id="R67084098613e4da8" /><Relationship Type="http://schemas.openxmlformats.org/officeDocument/2006/relationships/notesMaster" Target="/ppt/notesMasters/notesMaster1.xml" Id="R34d39b40635e40f3" /><Relationship Type="http://schemas.openxmlformats.org/officeDocument/2006/relationships/presProps" Target="/ppt/presProps.xml" Id="R39f56571482c49bc" /><Relationship Type="http://schemas.openxmlformats.org/officeDocument/2006/relationships/tableStyles" Target="/ppt/tableStyles.xml" Id="R4d21928848c7442e" /><Relationship Type="http://schemas.openxmlformats.org/officeDocument/2006/relationships/slide" Target="/ppt/slides/slide1.xml" Id="R1fb7e326f84c4781" /><Relationship Type="http://schemas.openxmlformats.org/officeDocument/2006/relationships/slide" Target="/ppt/slides/slide2.xml" Id="R531f0a96aefe473c" /><Relationship Type="http://schemas.openxmlformats.org/officeDocument/2006/relationships/slide" Target="/ppt/slides/slide3.xml" Id="R697cbffa78ed438e" /><Relationship Type="http://schemas.openxmlformats.org/officeDocument/2006/relationships/slide" Target="/ppt/slides/slide4.xml" Id="Re9da89e21b604d53" /><Relationship Type="http://schemas.openxmlformats.org/officeDocument/2006/relationships/slide" Target="/ppt/slides/slide5.xml" Id="R3fab5decced9417b" /><Relationship Type="http://schemas.openxmlformats.org/officeDocument/2006/relationships/slide" Target="/ppt/slides/slide6.xml" Id="Raef510ff522b430e" /><Relationship Type="http://schemas.openxmlformats.org/officeDocument/2006/relationships/slide" Target="/ppt/slides/slide7.xml" Id="R7498784047ba41cd" /><Relationship Type="http://schemas.openxmlformats.org/officeDocument/2006/relationships/slide" Target="/ppt/slides/slide8.xml" Id="Rf76f5e14c13b4fb4" /><Relationship Type="http://schemas.openxmlformats.org/officeDocument/2006/relationships/slide" Target="/ppt/slides/slide9.xml" Id="Rf7d1c7fc2805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f21d3a23e248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156ad652f44382" /><Relationship Type="http://schemas.openxmlformats.org/officeDocument/2006/relationships/notesMaster" Target="/ppt/notesMasters/notesMaster1.xml" Id="Rd375c51be9894e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91b2adc3264543" /><Relationship Type="http://schemas.openxmlformats.org/officeDocument/2006/relationships/notesMaster" Target="/ppt/notesMasters/notesMaster1.xml" Id="R3896cdf072424b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f9c02bce2044f4" /><Relationship Type="http://schemas.openxmlformats.org/officeDocument/2006/relationships/notesMaster" Target="/ppt/notesMasters/notesMaster1.xml" Id="R94b2936ddc4b42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be3be8ed4c4e37" /><Relationship Type="http://schemas.openxmlformats.org/officeDocument/2006/relationships/notesMaster" Target="/ppt/notesMasters/notesMaster1.xml" Id="R0b1d358c38804b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42402f47e4803" /><Relationship Type="http://schemas.openxmlformats.org/officeDocument/2006/relationships/notesMaster" Target="/ppt/notesMasters/notesMaster1.xml" Id="R9933f470a72042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65f638b35348a5" /><Relationship Type="http://schemas.openxmlformats.org/officeDocument/2006/relationships/notesMaster" Target="/ppt/notesMasters/notesMaster1.xml" Id="R44fefc3f3eaf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630173db24184" /><Relationship Type="http://schemas.openxmlformats.org/officeDocument/2006/relationships/notesMaster" Target="/ppt/notesMasters/notesMaster1.xml" Id="R333ae305852641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24bc0ca9364653" /><Relationship Type="http://schemas.openxmlformats.org/officeDocument/2006/relationships/notesMaster" Target="/ppt/notesMasters/notesMaster1.xml" Id="R8b4e9921f00545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987cd3bcc243cf" /><Relationship Type="http://schemas.openxmlformats.org/officeDocument/2006/relationships/notesMaster" Target="/ppt/notesMasters/notesMaster1.xml" Id="Re6359ab66423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Projeto de Rodrigo Correa. Explicar que a análise retrospectiva compara 12 ativos brasileiros de 2021 a 2023. Fonte: data/b3_2021_2023.csv e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quatro grupos são didáticos, não a classificação oficial da B3. KLBN11 é uma unit. Snapshot: 745 pregões por ativo e 8.940 registros, primeiro em 04/01/2021 e último em 28/12/2023. Fonte: data/manifest.json.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src/etl.py, src/schema.py, src/database.py e docs/PUBLICACAO.md. A configuração usa st.secrets. A aquisição consulta .SA, mantém Adj Close e faz até três tentativas. EMBR3 tem alias de aquisição EMBJ3.SA.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Retornos simples acumulados de Adj Close, entre 04/01/2021 e 28/12/2023. Não há taxas e impostos. Dados e cálculos: docs/resultados.json, src/analytics.py e data/b3_2021_2023.csv.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série da carteira é a média das 12 séries normalizadas com pesos iguais no início e sem rebalanceamento. O gráfico usa pontos mensais para apresentação; o dashboard usa a série diária completa. Fonte: docs/resultados.json, src/analytics.py.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Volatilidade individual: desvio padrão amostral de retornos simples diários × raiz de 252. A maior queda desde o topo foi de EMBR3: -58,27%. Fonte: docs/resultados.json e src/analytics.py.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Fórmulas completas e definições constam no README e na aba Metodologia. A SMA usa histórico anterior ao filtro, sem usar preços futuros. O primeiro retorno de cada recorte é excluído.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o dashboard. Selecionar Energia, recortar 2022, comparar os ativos, abrir distribuição e drawdown, observar SMA, exportar CSV e restaurar filtros. Captura real da aplicação em docs/dashboard.png.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atribuir causalidade aos resultados. O universo definido pelo enunciado pode ter viés de seleção. Volume Financeiro é estimado por Close × Volume. Setores são agrupamentos didáticos. Fonte: README, VALIDACAO.md e docs/ROTEIRO_APRESENTACAO.md.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cde8fa43343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5cdaa078346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f39bf5e484c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13096cc7c4e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f5c1cc7a848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20fb9feeb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641851-7616-4F42-B873-60A7EB341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0671D8-7E27-4814-A93C-4532DD4FAE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9307E8-5D0C-4B68-9110-2BC3CC1EB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FA0221-838D-4927-A537-DB1F87BDA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C0EE04-7AF0-46DA-896B-96E59D41A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24EA92-0CBF-492D-880D-4903C492F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A27859-5A13-4F1C-A961-A0E70BD42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50FE97C-7632-4F7C-BAF5-6A9FAAB490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D8005-C1EA-430B-A038-CF66714CAA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9F364F-4A75-4116-BA2E-0924AE535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5e92bbe6f24453" /><Relationship Type="http://schemas.openxmlformats.org/officeDocument/2006/relationships/slideLayout" Target="/ppt/slideLayouts/slideLayout1.xml" Id="Rd17608c3de7143f2" /><Relationship Type="http://schemas.openxmlformats.org/officeDocument/2006/relationships/slideLayout" Target="/ppt/slideLayouts/slideLayout2.xml" Id="Ra0b7482bc74343f6" /><Relationship Type="http://schemas.openxmlformats.org/officeDocument/2006/relationships/slideLayout" Target="/ppt/slideLayouts/slideLayout3.xml" Id="R10ab2ac15fcf4b7a" /><Relationship Type="http://schemas.openxmlformats.org/officeDocument/2006/relationships/slideLayout" Target="/ppt/slideLayouts/slideLayout4.xml" Id="R19cbb6b1b5bb4a89" /><Relationship Type="http://schemas.openxmlformats.org/officeDocument/2006/relationships/slideLayout" Target="/ppt/slideLayouts/slideLayout5.xml" Id="R90a05d1e0e8442e0" /><Relationship Type="http://schemas.openxmlformats.org/officeDocument/2006/relationships/slideLayout" Target="/ppt/slideLayouts/slideLayout6.xml" Id="R88af1e64a7b1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608c3de7143f2"/>
    <p:sldLayoutId xmlns:r="http://schemas.openxmlformats.org/officeDocument/2006/relationships" id="2147483650" r:id="Ra0b7482bc74343f6"/>
    <p:sldLayoutId xmlns:r="http://schemas.openxmlformats.org/officeDocument/2006/relationships" id="2147483651" r:id="R10ab2ac15fcf4b7a"/>
    <p:sldLayoutId xmlns:r="http://schemas.openxmlformats.org/officeDocument/2006/relationships" id="2147483652" r:id="R19cbb6b1b5bb4a89"/>
    <p:sldLayoutId xmlns:r="http://schemas.openxmlformats.org/officeDocument/2006/relationships" id="2147483653" r:id="R90a05d1e0e8442e0"/>
    <p:sldLayoutId xmlns:r="http://schemas.openxmlformats.org/officeDocument/2006/relationships" id="2147483654" r:id="R88af1e64a7b1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99e7f95d24a0a" /><Relationship Type="http://schemas.openxmlformats.org/officeDocument/2006/relationships/notesSlide" Target="/ppt/notesSlides/notesSlide1.xml" Id="R3d2cdea9b17f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3c31187bb4719" /><Relationship Type="http://schemas.openxmlformats.org/officeDocument/2006/relationships/notesSlide" Target="/ppt/notesSlides/notesSlide2.xml" Id="R4f4282a3787f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36c2dcb584467" /><Relationship Type="http://schemas.openxmlformats.org/officeDocument/2006/relationships/notesSlide" Target="/ppt/notesSlides/notesSlide3.xml" Id="R83944b95599c4b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e577cfe8714cc7" /><Relationship Type="http://schemas.openxmlformats.org/officeDocument/2006/relationships/chart" Target="/ppt/slides/charts/chart1.xml" Id="Rfa5044e932964807" /><Relationship Type="http://schemas.openxmlformats.org/officeDocument/2006/relationships/notesSlide" Target="/ppt/notesSlides/notesSlide4.xml" Id="Rf2e2eafde334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f68b551e74e1f" /><Relationship Type="http://schemas.openxmlformats.org/officeDocument/2006/relationships/chart" Target="/ppt/slides/charts/chart2.xml" Id="R29a74ba3dee94acf" /><Relationship Type="http://schemas.openxmlformats.org/officeDocument/2006/relationships/notesSlide" Target="/ppt/notesSlides/notesSlide5.xml" Id="R261e71fa822744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5661af6e740df" /><Relationship Type="http://schemas.openxmlformats.org/officeDocument/2006/relationships/chart" Target="/ppt/slides/charts/chart3.xml" Id="R9f0c8f4488fd48ca" /><Relationship Type="http://schemas.openxmlformats.org/officeDocument/2006/relationships/notesSlide" Target="/ppt/notesSlides/notesSlide6.xml" Id="R434a5aade179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49ab029bb14e33" /><Relationship Type="http://schemas.openxmlformats.org/officeDocument/2006/relationships/notesSlide" Target="/ppt/notesSlides/notesSlide7.xml" Id="R6db6f8779de041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3ebc396eb4917" /><Relationship Type="http://schemas.openxmlformats.org/officeDocument/2006/relationships/image" Target="/ppt/media/image.jpeg" Id="Rfb1a0cc2da9742ce" /><Relationship Type="http://schemas.openxmlformats.org/officeDocument/2006/relationships/notesSlide" Target="/ppt/notesSlides/notesSlide8.xml" Id="R21548c7033d042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4e209519a4d56" /><Relationship Type="http://schemas.openxmlformats.org/officeDocument/2006/relationships/notesSlide" Target="/ppt/notesSlides/notesSlide9.xml" Id="R4e4364dcb48940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Retorno acumulado</c:v>
          </c:tx>
          <c:spPr>
            <a:solidFill xmlns:a="http://schemas.openxmlformats.org/drawingml/2006/main">
              <a:srgbClr val="007F76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PETR4</c:v>
                </c:pt>
                <c:pt idx="1">
                  <c:v>PRIO3</c:v>
                </c:pt>
                <c:pt idx="2">
                  <c:v>EMBR3</c:v>
                </c:pt>
                <c:pt idx="3">
                  <c:v>GGBR4</c:v>
                </c:pt>
                <c:pt idx="4">
                  <c:v>EGIE3</c:v>
                </c:pt>
                <c:pt idx="5">
                  <c:v>ITUB4</c:v>
                </c:pt>
                <c:pt idx="6">
                  <c:v>VALE3</c:v>
                </c:pt>
                <c:pt idx="7">
                  <c:v>WEGE3</c:v>
                </c:pt>
                <c:pt idx="8">
                  <c:v>ABEV3</c:v>
                </c:pt>
                <c:pt idx="9">
                  <c:v>RENT3</c:v>
                </c:pt>
                <c:pt idx="10">
                  <c:v>KLBN11</c:v>
                </c:pt>
                <c:pt idx="11">
                  <c:v>BBDC4</c:v>
                </c:pt>
              </c:strCache>
            </c:str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2.28689416</c:v>
                </c:pt>
                <c:pt idx="1">
                  <c:v>2.0831526</c:v>
                </c:pt>
                <c:pt idx="2">
                  <c:v>1.67502989</c:v>
                </c:pt>
                <c:pt idx="3">
                  <c:v>0.30794905</c:v>
                </c:pt>
                <c:pt idx="4">
                  <c:v>0.25347379</c:v>
                </c:pt>
                <c:pt idx="5">
                  <c:v>0.24024556</c:v>
                </c:pt>
                <c:pt idx="6">
                  <c:v>0.18108768</c:v>
                </c:pt>
                <c:pt idx="7">
                  <c:v>0.03505223</c:v>
                </c:pt>
                <c:pt idx="8">
                  <c:v>0.02569589</c:v>
                </c:pt>
                <c:pt idx="9">
                  <c:v>-0.00250467</c:v>
                </c:pt>
                <c:pt idx="10">
                  <c:v>-0.00804279</c:v>
                </c:pt>
                <c:pt idx="11">
                  <c:v>-0.06928834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B43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PETR4</c:v>
          </c:tx>
          <c:spPr>
            <a:ln xmlns:a="http://schemas.openxmlformats.org/drawingml/2006/main" w="28575">
              <a:solidFill>
                <a:srgbClr val="007F76"/>
              </a:solidFill>
            </a:ln>
          </c:spPr>
          <c:marker>
            <c:symbol val="none"/>
          </c:marker>
          <c:cat>
            <c:strRef>
              <c:f>'Chart Data'!$A$2:$A$37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Data'!$B$2:$B$37</c:f>
              <c:numCache>
                <c:formatCode>0</c:formatCode>
                <c:ptCount val="36"/>
                <c:pt idx="0">
                  <c:v>92.321</c:v>
                </c:pt>
                <c:pt idx="1">
                  <c:v>76.9284</c:v>
                </c:pt>
                <c:pt idx="2">
                  <c:v>83.3622</c:v>
                </c:pt>
                <c:pt idx="3">
                  <c:v>84.4516</c:v>
                </c:pt>
                <c:pt idx="4">
                  <c:v>96.0717</c:v>
                </c:pt>
                <c:pt idx="5">
                  <c:v>105.2248</c:v>
                </c:pt>
                <c:pt idx="6">
                  <c:v>96.2147</c:v>
                </c:pt>
                <c:pt idx="7">
                  <c:v>103.006</c:v>
                </c:pt>
                <c:pt idx="8">
                  <c:v>103.1575</c:v>
                </c:pt>
                <c:pt idx="9">
                  <c:v>102.8545</c:v>
                </c:pt>
                <c:pt idx="10">
                  <c:v>111.492</c:v>
                </c:pt>
                <c:pt idx="11">
                  <c:v>121.0751</c:v>
                </c:pt>
                <c:pt idx="12">
                  <c:v>137.6724</c:v>
                </c:pt>
                <c:pt idx="13">
                  <c:v>144.6943</c:v>
                </c:pt>
                <c:pt idx="14">
                  <c:v>142.3536</c:v>
                </c:pt>
                <c:pt idx="15">
                  <c:v>140.9757</c:v>
                </c:pt>
                <c:pt idx="16">
                  <c:v>155.9586</c:v>
                </c:pt>
                <c:pt idx="17">
                  <c:v>144.9077</c:v>
                </c:pt>
                <c:pt idx="18">
                  <c:v>177.1786</c:v>
                </c:pt>
                <c:pt idx="19">
                  <c:v>211.7249</c:v>
                </c:pt>
                <c:pt idx="20">
                  <c:v>189.8707</c:v>
                </c:pt>
                <c:pt idx="21">
                  <c:v>189.9344</c:v>
                </c:pt>
                <c:pt idx="22">
                  <c:v>181.731</c:v>
                </c:pt>
                <c:pt idx="23">
                  <c:v>167.0071</c:v>
                </c:pt>
                <c:pt idx="24">
                  <c:v>177.7092</c:v>
                </c:pt>
                <c:pt idx="25">
                  <c:v>172.0514</c:v>
                </c:pt>
                <c:pt idx="26">
                  <c:v>159.8497</c:v>
                </c:pt>
                <c:pt idx="27">
                  <c:v>181.9846</c:v>
                </c:pt>
                <c:pt idx="28">
                  <c:v>200.5671</c:v>
                </c:pt>
                <c:pt idx="29">
                  <c:v>241.6</c:v>
                </c:pt>
                <c:pt idx="30">
                  <c:v>254.5268</c:v>
                </c:pt>
                <c:pt idx="31">
                  <c:v>271.2785</c:v>
                </c:pt>
                <c:pt idx="32">
                  <c:v>294.2106</c:v>
                </c:pt>
                <c:pt idx="33">
                  <c:v>295.06</c:v>
                </c:pt>
                <c:pt idx="34">
                  <c:v>316.9504</c:v>
                </c:pt>
                <c:pt idx="35">
                  <c:v>328.6894</c:v>
                </c:pt>
              </c:numCache>
            </c:numRef>
          </c:val>
        </c:ser>
        <c:ser>
          <c:idx val="1"/>
          <c:order val="1"/>
          <c:tx>
            <c:v>BBDC4</c:v>
          </c:tx>
          <c:spPr>
            <a:ln xmlns:a="http://schemas.openxmlformats.org/drawingml/2006/main" w="28575">
              <a:solidFill>
                <a:srgbClr val="B85450"/>
              </a:solidFill>
            </a:ln>
          </c:spPr>
          <c:marker>
            <c:symbol val="none"/>
          </c:marker>
          <c:cat>
            <c:strRef>
              <c:f>'Chart Data'!$C$2:$C$37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Data'!$D$2:$D$37</c:f>
              <c:numCache>
                <c:formatCode>0</c:formatCode>
                <c:ptCount val="36"/>
                <c:pt idx="0">
                  <c:v>93.6728</c:v>
                </c:pt>
                <c:pt idx="1">
                  <c:v>87.2255</c:v>
                </c:pt>
                <c:pt idx="2">
                  <c:v>101.6094</c:v>
                </c:pt>
                <c:pt idx="3">
                  <c:v>99.6519</c:v>
                </c:pt>
                <c:pt idx="4">
                  <c:v>110.7262</c:v>
                </c:pt>
                <c:pt idx="5">
                  <c:v>107.6654</c:v>
                </c:pt>
                <c:pt idx="6">
                  <c:v>103.6941</c:v>
                </c:pt>
                <c:pt idx="7">
                  <c:v>99.0673</c:v>
                </c:pt>
                <c:pt idx="8">
                  <c:v>89.2123</c:v>
                </c:pt>
                <c:pt idx="9">
                  <c:v>85.3049</c:v>
                </c:pt>
                <c:pt idx="10">
                  <c:v>85.4264</c:v>
                </c:pt>
                <c:pt idx="11">
                  <c:v>83.5236</c:v>
                </c:pt>
                <c:pt idx="12">
                  <c:v>99.2281</c:v>
                </c:pt>
                <c:pt idx="13">
                  <c:v>88.6388</c:v>
                </c:pt>
                <c:pt idx="14">
                  <c:v>96.8742</c:v>
                </c:pt>
                <c:pt idx="15">
                  <c:v>86.3019</c:v>
                </c:pt>
                <c:pt idx="16">
                  <c:v>98.5015</c:v>
                </c:pt>
                <c:pt idx="17">
                  <c:v>83.5878</c:v>
                </c:pt>
                <c:pt idx="18">
                  <c:v>84.7982</c:v>
                </c:pt>
                <c:pt idx="19">
                  <c:v>92.3423</c:v>
                </c:pt>
                <c:pt idx="20">
                  <c:v>96.7241</c:v>
                </c:pt>
                <c:pt idx="21">
                  <c:v>96.9081</c:v>
                </c:pt>
                <c:pt idx="22">
                  <c:v>76.0958</c:v>
                </c:pt>
                <c:pt idx="23">
                  <c:v>74.0867</c:v>
                </c:pt>
                <c:pt idx="24">
                  <c:v>71.4105</c:v>
                </c:pt>
                <c:pt idx="25">
                  <c:v>66.7146</c:v>
                </c:pt>
                <c:pt idx="26">
                  <c:v>67.2718</c:v>
                </c:pt>
                <c:pt idx="27">
                  <c:v>70.8497</c:v>
                </c:pt>
                <c:pt idx="28">
                  <c:v>79.4517</c:v>
                </c:pt>
                <c:pt idx="29">
                  <c:v>85.3847</c:v>
                </c:pt>
                <c:pt idx="30">
                  <c:v>86.5732</c:v>
                </c:pt>
                <c:pt idx="31">
                  <c:v>77.7759</c:v>
                </c:pt>
                <c:pt idx="32">
                  <c:v>74.4885</c:v>
                </c:pt>
                <c:pt idx="33">
                  <c:v>72.9717</c:v>
                </c:pt>
                <c:pt idx="34">
                  <c:v>84.9781</c:v>
                </c:pt>
                <c:pt idx="35">
                  <c:v>93.0712</c:v>
                </c:pt>
              </c:numCache>
            </c:numRef>
          </c:val>
        </c:ser>
        <c:ser>
          <c:idx val="2"/>
          <c:order val="2"/>
          <c:tx>
            <c:v>Carteira</c:v>
          </c:tx>
          <c:spPr>
            <a:ln xmlns:a="http://schemas.openxmlformats.org/drawingml/2006/main" w="28575">
              <a:solidFill>
                <a:srgbClr val="645AB5"/>
              </a:solidFill>
            </a:ln>
          </c:spPr>
          <c:marker>
            <c:symbol val="none"/>
          </c:marker>
          <c:cat>
            <c:strRef>
              <c:f>'Chart Data'!$E$2:$E$37</c:f>
              <c:strCache>
                <c:ptCount val="36"/>
                <c:pt idx="0">
                  <c:v>01/2021</c:v>
                </c:pt>
                <c:pt idx="1">
                  <c:v>02/2021</c:v>
                </c:pt>
                <c:pt idx="2">
                  <c:v>03/2021</c:v>
                </c:pt>
                <c:pt idx="3">
                  <c:v>04/2021</c:v>
                </c:pt>
                <c:pt idx="4">
                  <c:v>05/2021</c:v>
                </c:pt>
                <c:pt idx="5">
                  <c:v>06/2021</c:v>
                </c:pt>
                <c:pt idx="6">
                  <c:v>07/2021</c:v>
                </c:pt>
                <c:pt idx="7">
                  <c:v>08/2021</c:v>
                </c:pt>
                <c:pt idx="8">
                  <c:v>09/2021</c:v>
                </c:pt>
                <c:pt idx="9">
                  <c:v>10/2021</c:v>
                </c:pt>
                <c:pt idx="10">
                  <c:v>11/2021</c:v>
                </c:pt>
                <c:pt idx="11">
                  <c:v>12/2021</c:v>
                </c:pt>
                <c:pt idx="12">
                  <c:v>01/2022</c:v>
                </c:pt>
                <c:pt idx="13">
                  <c:v>02/2022</c:v>
                </c:pt>
                <c:pt idx="14">
                  <c:v>03/2022</c:v>
                </c:pt>
                <c:pt idx="15">
                  <c:v>04/2022</c:v>
                </c:pt>
                <c:pt idx="16">
                  <c:v>05/2022</c:v>
                </c:pt>
                <c:pt idx="17">
                  <c:v>06/2022</c:v>
                </c:pt>
                <c:pt idx="18">
                  <c:v>07/2022</c:v>
                </c:pt>
                <c:pt idx="19">
                  <c:v>08/2022</c:v>
                </c:pt>
                <c:pt idx="20">
                  <c:v>09/2022</c:v>
                </c:pt>
                <c:pt idx="21">
                  <c:v>10/2022</c:v>
                </c:pt>
                <c:pt idx="22">
                  <c:v>11/2022</c:v>
                </c:pt>
                <c:pt idx="23">
                  <c:v>12/2022</c:v>
                </c:pt>
                <c:pt idx="24">
                  <c:v>01/2023</c:v>
                </c:pt>
                <c:pt idx="25">
                  <c:v>02/2023</c:v>
                </c:pt>
                <c:pt idx="26">
                  <c:v>03/2023</c:v>
                </c:pt>
                <c:pt idx="27">
                  <c:v>04/2023</c:v>
                </c:pt>
                <c:pt idx="28">
                  <c:v>05/2023</c:v>
                </c:pt>
                <c:pt idx="29">
                  <c:v>06/2023</c:v>
                </c:pt>
                <c:pt idx="30">
                  <c:v>07/2023</c:v>
                </c:pt>
                <c:pt idx="31">
                  <c:v>08/2023</c:v>
                </c:pt>
                <c:pt idx="32">
                  <c:v>09/2023</c:v>
                </c:pt>
                <c:pt idx="33">
                  <c:v>10/2023</c:v>
                </c:pt>
                <c:pt idx="34">
                  <c:v>11/2023</c:v>
                </c:pt>
                <c:pt idx="35">
                  <c:v>12/2023</c:v>
                </c:pt>
              </c:strCache>
            </c:strRef>
          </c:cat>
          <c:val>
            <c:numRef>
              <c:f>'Chart Data'!$F$2:$F$37</c:f>
              <c:numCache>
                <c:formatCode>0</c:formatCode>
                <c:ptCount val="36"/>
                <c:pt idx="0">
                  <c:v>97.7383</c:v>
                </c:pt>
                <c:pt idx="1">
                  <c:v>99.8617</c:v>
                </c:pt>
                <c:pt idx="2">
                  <c:v>107.1401</c:v>
                </c:pt>
                <c:pt idx="3">
                  <c:v>110.0122</c:v>
                </c:pt>
                <c:pt idx="4">
                  <c:v>116.4257</c:v>
                </c:pt>
                <c:pt idx="5">
                  <c:v>116.9243</c:v>
                </c:pt>
                <c:pt idx="6">
                  <c:v>113.9442</c:v>
                </c:pt>
                <c:pt idx="7">
                  <c:v>118.3425</c:v>
                </c:pt>
                <c:pt idx="8">
                  <c:v>117.4207</c:v>
                </c:pt>
                <c:pt idx="9">
                  <c:v>111.975</c:v>
                </c:pt>
                <c:pt idx="10">
                  <c:v>107.5087</c:v>
                </c:pt>
                <c:pt idx="11">
                  <c:v>116.0204</c:v>
                </c:pt>
                <c:pt idx="12">
                  <c:v>118.2844</c:v>
                </c:pt>
                <c:pt idx="13">
                  <c:v>115.561</c:v>
                </c:pt>
                <c:pt idx="14">
                  <c:v>118.5504</c:v>
                </c:pt>
                <c:pt idx="15">
                  <c:v>111.0301</c:v>
                </c:pt>
                <c:pt idx="16">
                  <c:v>114.681</c:v>
                </c:pt>
                <c:pt idx="17">
                  <c:v>101.2535</c:v>
                </c:pt>
                <c:pt idx="18">
                  <c:v>108.3319</c:v>
                </c:pt>
                <c:pt idx="19">
                  <c:v>115.7032</c:v>
                </c:pt>
                <c:pt idx="20">
                  <c:v>114.6392</c:v>
                </c:pt>
                <c:pt idx="21">
                  <c:v>126.5846</c:v>
                </c:pt>
                <c:pt idx="22">
                  <c:v>126.1654</c:v>
                </c:pt>
                <c:pt idx="23">
                  <c:v>124.1128</c:v>
                </c:pt>
                <c:pt idx="24">
                  <c:v>132.0275</c:v>
                </c:pt>
                <c:pt idx="25">
                  <c:v>123.7297</c:v>
                </c:pt>
                <c:pt idx="26">
                  <c:v>124.6405</c:v>
                </c:pt>
                <c:pt idx="27">
                  <c:v>127.9788</c:v>
                </c:pt>
                <c:pt idx="28">
                  <c:v>129.5449</c:v>
                </c:pt>
                <c:pt idx="29">
                  <c:v>138.3758</c:v>
                </c:pt>
                <c:pt idx="30">
                  <c:v>146.9584</c:v>
                </c:pt>
                <c:pt idx="31">
                  <c:v>144.854</c:v>
                </c:pt>
                <c:pt idx="32">
                  <c:v>143.4897</c:v>
                </c:pt>
                <c:pt idx="33">
                  <c:v>140.0018</c:v>
                </c:pt>
                <c:pt idx="34">
                  <c:v>151.6403</c:v>
                </c:pt>
                <c:pt idx="35">
                  <c:v>158.4062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42B4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Volatilidade anualizada</c:v>
          </c:tx>
          <c:spPr>
            <a:solidFill xmlns:a="http://schemas.openxmlformats.org/drawingml/2006/main">
              <a:srgbClr val="645AB5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PETR4</c:v>
                </c:pt>
                <c:pt idx="1">
                  <c:v>PRIO3</c:v>
                </c:pt>
                <c:pt idx="2">
                  <c:v>EMBR3</c:v>
                </c:pt>
                <c:pt idx="3">
                  <c:v>GGBR4</c:v>
                </c:pt>
                <c:pt idx="4">
                  <c:v>EGIE3</c:v>
                </c:pt>
                <c:pt idx="5">
                  <c:v>ITUB4</c:v>
                </c:pt>
                <c:pt idx="6">
                  <c:v>VALE3</c:v>
                </c:pt>
                <c:pt idx="7">
                  <c:v>WEGE3</c:v>
                </c:pt>
                <c:pt idx="8">
                  <c:v>ABEV3</c:v>
                </c:pt>
                <c:pt idx="9">
                  <c:v>RENT3</c:v>
                </c:pt>
                <c:pt idx="10">
                  <c:v>KLBN11</c:v>
                </c:pt>
                <c:pt idx="11">
                  <c:v>BBDC4</c:v>
                </c:pt>
              </c:strCache>
            </c:strRef>
          </c:cat>
          <c:val>
            <c:numRef>
              <c:f>'Chart Data'!$B$2:$B$13</c:f>
              <c:numCache>
                <c:formatCode>0%</c:formatCode>
                <c:ptCount val="12"/>
                <c:pt idx="0">
                  <c:v>0.39422305</c:v>
                </c:pt>
                <c:pt idx="1">
                  <c:v>0.46780888</c:v>
                </c:pt>
                <c:pt idx="2">
                  <c:v>0.46821136</c:v>
                </c:pt>
                <c:pt idx="3">
                  <c:v>0.35556356</c:v>
                </c:pt>
                <c:pt idx="4">
                  <c:v>0.18762154</c:v>
                </c:pt>
                <c:pt idx="5">
                  <c:v>0.28834485</c:v>
                </c:pt>
                <c:pt idx="6">
                  <c:v>0.33899681</c:v>
                </c:pt>
                <c:pt idx="7">
                  <c:v>0.32826677</c:v>
                </c:pt>
                <c:pt idx="8">
                  <c:v>0.25464885</c:v>
                </c:pt>
                <c:pt idx="9">
                  <c:v>0.36889073</c:v>
                </c:pt>
                <c:pt idx="10">
                  <c:v>0.26623834</c:v>
                </c:pt>
                <c:pt idx="11">
                  <c:v>0.31384899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B154D-E303-4EB5-AB13-91CC3D4A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Observatório de mercado B3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6FAE2-CAFA-4F9C-B814-19C13F5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Analytics financeiro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2456B-5ACC-4475-BF1A-B92D5C9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Performance e risco de 12 ativos</a:t>
            </a:r>
          </a:p>
          <a:p xmlns:a="http://schemas.openxmlformats.org/drawingml/2006/main">
            <a:pPr>
              <a:defRPr sz="27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01/01/2021 a 31/12/2023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2C9E2-990C-46B4-B0A0-195DFB4F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Rodrigo Correa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C3B0F-603C-4FC8-80BD-FD554902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Projeto Final de Analytics Financeiro, Linha 2</a:t>
            </a:r>
          </a:p>
        </p:txBody>
      </p:sp>
    </p:spTree>
    <p:extLst>
      <p:ext uri="{BB962C8B-B14F-4D97-AF65-F5344CB8AC3E}">
        <p14:creationId xmlns:p14="http://schemas.microsoft.com/office/powerpoint/2010/main" val="2090634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79EFB-14FE-4CF7-B722-026A339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Universo e cobertura dos dados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C18E1-9E74-4E63-A001-F3A8CCFFB9CB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Grupo didático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Indústria e materiais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WEGE3, EMBR3, VALE3, GGBR4, KLBN11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Energia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PETR4, PRIO3, EGIE3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ITUB4, BBDC4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Consumo e serviços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ABEV3, RENT3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CF5EB-3BAA-4217-B09D-3588C64E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8.940 registros reais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6B5E7-1572-4654-AF2B-553CE3B3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247 pregões em 2021, 250 em 2022 e 248 em 2023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BB9BB-D211-42CD-BAB8-9440D2B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Fonte: Yahoo Finance via yfinance. Snapshot adquirido em 30/10/2026.</a:t>
            </a:r>
          </a:p>
        </p:txBody>
      </p:sp>
    </p:spTree>
    <p:extLst>
      <p:ext uri="{BB962C8B-B14F-4D97-AF65-F5344CB8AC3E}">
        <p14:creationId xmlns:p14="http://schemas.microsoft.com/office/powerpoint/2010/main" val="437280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95B4-C866-4061-99D6-6061E16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Aquisição, qualidade e contingência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22FE9-2A4A-49B4-8265-269CC1AE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1  Aquisição diária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2D0E-B3F9-4D3C-BEEB-C181BBCF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Yahoo Finance, período fixo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tentativas em caso de falha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76C69-2A5C-46CA-AAD4-D9FE77A1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906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2  Contrato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14A9D-06CF-427E-810F-392C8C8B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Tipos, preços, chaves, universo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cobertura anual validados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429B6-055D-4375-94BB-D8F35D4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3  Snapshot auditável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E6ED8-5EC9-4747-B035-35328AE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CSV local e manifesto com SHA-256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para reproduzir a análise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244F9-9665-4943-8AB6-0F32FB7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4  Dashboard resiliente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B31CC-0BEB-4A33-B42E-373EE1B6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PostgreSQL prioritário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CSV automático se o banco falhar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69388-943D-41B7-BA66-94A88E41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Módulos separados para aquisição, banco, indicadores e interface.</a:t>
            </a:r>
          </a:p>
        </p:txBody>
      </p:sp>
    </p:spTree>
    <p:extLst>
      <p:ext uri="{BB962C8B-B14F-4D97-AF65-F5344CB8AC3E}">
        <p14:creationId xmlns:p14="http://schemas.microsoft.com/office/powerpoint/2010/main" val="31274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7AA79-F754-4207-B85A-61452CCC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PETR4 liderou o retorno no período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C86ADF4-D292-4D8C-BBF3-826447BA2144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5044e932964807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AB1B4-503A-4DD3-8922-BD5B2A5E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Retorno acumulado de 2021 a 2023. Preços ajustados pelo provedor.</a:t>
            </a:r>
          </a:p>
        </p:txBody>
      </p:sp>
    </p:spTree>
    <p:extLst>
      <p:ext uri="{BB962C8B-B14F-4D97-AF65-F5344CB8AC3E}">
        <p14:creationId xmlns:p14="http://schemas.microsoft.com/office/powerpoint/2010/main" val="1732327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30744-77D2-435E-BC63-8D8F292A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A carteira acumulou retorno de 58,41%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5F9750E-0D78-4E3E-A2D7-3DB6C80013FC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a74ba3dee94acf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BD960-1A5B-4F34-9900-1B81429D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Base inicial 100 em 04/01/2021. Pontos de fechamento mensal.</a:t>
            </a:r>
          </a:p>
        </p:txBody>
      </p:sp>
    </p:spTree>
    <p:extLst>
      <p:ext uri="{BB962C8B-B14F-4D97-AF65-F5344CB8AC3E}">
        <p14:creationId xmlns:p14="http://schemas.microsoft.com/office/powerpoint/2010/main" val="863398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1083F-BAFC-4986-BE9E-734351B2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Volatilidade e perdas desde o topo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1C205BB-EBF1-4567-B7EA-CB591BBDF746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85812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0c8f4488fd48c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C863D-7719-463C-8223-B6873761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33,61%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84227-89DF-4058-8806-9BB7017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Volatilidade média</a:t>
            </a:r>
          </a:p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dos ativos, % a.a.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377CE-76BE-47F9-ABEA-90ED483E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714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−58,27%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55872-9212-44AC-9A2E-3A9709EE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72050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Maior drawdown</a:t>
            </a:r>
          </a:p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EMBR3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212CE-5A18-489F-9B41-D11AF839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O risco de uma carteira depende também da relação entre os ativos.</a:t>
            </a:r>
          </a:p>
        </p:txBody>
      </p:sp>
    </p:spTree>
    <p:extLst>
      <p:ext uri="{BB962C8B-B14F-4D97-AF65-F5344CB8AC3E}">
        <p14:creationId xmlns:p14="http://schemas.microsoft.com/office/powerpoint/2010/main" val="18887191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7EAA9-E6F4-4944-92F5-860CF66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Definições que sustentam a análise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D56D3-D815-475D-BC55-9DBF34727C83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Definição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T w="9525">
                      <a:solidFill>
                        <a:srgbClr val="DAE3EA"/>
                      </a:solidFill>
                    </a:lnT>
                    <a:lnB w="9525">
                      <a:solidFill>
                        <a:srgbClr val="DAE3EA"/>
                      </a:solidFill>
                    </a:lnB>
                    <a:solidFill>
                      <a:srgbClr val="142B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Base 100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100 × preço ajustado / preço inicial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Retorno acumulado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(preço final / preço inicial − 1)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anualizada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Desvio padrão amostral dos retornos × √252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Drawdown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(preço / maior preço até a data − 1) × 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SMA 21 e SMA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AE3EA"/>
                      </a:solidFill>
                    </a:lnL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Arial"/>
                          <a:ea typeface="Arial"/>
                          <a:cs typeface="Arial"/>
                        </a:rPr>
                        <a:t>Média dos últimos 21 ou 50 pregões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AE3EA"/>
                      </a:solidFill>
                    </a:lnR>
                    <a:lnB w="9525">
                      <a:solidFill>
                        <a:srgbClr val="DA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D1343-281F-4C2C-8096-9EAAFCC4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Retornos e drawdown em percentual. SMA em reais, sobre preço ajustado.</a:t>
            </a:r>
          </a:p>
        </p:txBody>
      </p:sp>
    </p:spTree>
    <p:extLst>
      <p:ext uri="{BB962C8B-B14F-4D97-AF65-F5344CB8AC3E}">
        <p14:creationId xmlns:p14="http://schemas.microsoft.com/office/powerpoint/2010/main" val="945444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986F7-C687-4263-8C04-68F8C5C6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Demonstração do dashboard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6C69E-4022-471A-A559-B34C53714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a0cc2da9742ce"/>
          <a:stretch xmlns:a="http://schemas.openxmlformats.org/drawingml/2006/main"/>
        </p:blipFill>
        <p:spPr>
          <a:xfrm xmlns:a="http://schemas.openxmlformats.org/drawingml/2006/main">
            <a:off x="609600" y="2290167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216B8-C4BB-4F70-B44C-0FB7D0AC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668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Filtros e estado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72A5-742D-47C0-88E5-10DF9563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Setor, ativo e datas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Reset para o período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C154D-5997-473A-B99B-46E8A7BE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Cinco visões analíticas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CEA8B-6959-4FAF-B021-8F784A6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519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Base 100, risco e retorno, retornos</a:t>
            </a:r>
          </a:p>
          <a:p xmlns:a="http://schemas.openxmlformats.org/drawingml/2006/main">
            <a:pPr>
              <a:defRPr sz="2100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diários, drawdown e médias móveis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4B9FB-961B-4EB3-ACBF-B651A99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A aba Base de dados exporta exatamente o recorte selecionado.</a:t>
            </a:r>
          </a:p>
        </p:txBody>
      </p:sp>
    </p:spTree>
    <p:extLst>
      <p:ext uri="{BB962C8B-B14F-4D97-AF65-F5344CB8AC3E}">
        <p14:creationId xmlns:p14="http://schemas.microsoft.com/office/powerpoint/2010/main" val="1008179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C3B2E-0FF4-4A37-81C0-50BB4B10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B43"/>
                </a:solidFill>
                <a:latin typeface="Arial"/>
                <a:ea typeface="Arial"/>
                <a:cs typeface="Arial"/>
              </a:rPr>
              <a:t>Conclusões e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6ECA-F5B9-4928-91AD-27FC5222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Comparação reproduzível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30013-B8AD-4E68-9E47-4CF31B69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Dados locais auditáveis e fórmulas explícitas permitem conferir os resultados.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E2BA3-47B8-4BE6-8872-660A2750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07F7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6"/>
                </a:solidFill>
                <a:latin typeface="Arial"/>
                <a:ea typeface="Arial"/>
                <a:cs typeface="Arial"/>
              </a:rPr>
              <a:t>Limitações da interpretação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46FB2-A083-4721-9C26-B4D89A0C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Volume financeiro estimado, ajustes do provedor, universo fixado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B43"/>
                </a:solidFill>
                <a:latin typeface="Arial"/>
                <a:ea typeface="Arial"/>
                <a:cs typeface="Arial"/>
              </a:rPr>
              <a:t>e ausência de taxas ou impostos.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3E106-CE51-47E3-8350-58B30EC0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Rodrigo Correa, github.com/rodrigodll46/projeto-final-analytics-b3</a:t>
            </a:r>
          </a:p>
        </p:txBody>
      </p:sp>
    </p:spTree>
    <p:extLst>
      <p:ext uri="{BB962C8B-B14F-4D97-AF65-F5344CB8AC3E}">
        <p14:creationId xmlns:p14="http://schemas.microsoft.com/office/powerpoint/2010/main" val="3769075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2026-10-31T01:01:57.1310000Z</dcterms:created>
  <dcterms:modified xsi:type="dcterms:W3CDTF">2026-10-31T01:01:57.1310000Z</dcterms:modified>
</coreProperties>
</file>