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6ff4e4323e40ca" /><Relationship Type="http://schemas.openxmlformats.org/officeDocument/2006/relationships/extended-properties" Target="/docProps/app.xml" Id="Re61be975a121445b" /><Relationship Type="http://schemas.openxmlformats.org/officeDocument/2006/relationships/officeDocument" Target="/ppt/presentation.xml" Id="R4a18e8eb38294f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98e09de7b14baf"/>
  </p:sldMasterIdLst>
  <p:notesMasterIdLst>
    <p:notesMasterId xmlns:r="http://schemas.openxmlformats.org/officeDocument/2006/relationships" r:id="R70c7e9a54a2544f3"/>
  </p:notesMasterIdLst>
  <p:sldIdLst>
    <p:sldId xmlns:r="http://schemas.openxmlformats.org/officeDocument/2006/relationships" id="256" r:id="Re9a3150398fb47d8"/>
    <p:sldId xmlns:r="http://schemas.openxmlformats.org/officeDocument/2006/relationships" id="257" r:id="Reb3d0b2c981044e9"/>
    <p:sldId xmlns:r="http://schemas.openxmlformats.org/officeDocument/2006/relationships" id="258" r:id="R2267ea472867462e"/>
    <p:sldId xmlns:r="http://schemas.openxmlformats.org/officeDocument/2006/relationships" id="259" r:id="R1f9081961f3145ea"/>
    <p:sldId xmlns:r="http://schemas.openxmlformats.org/officeDocument/2006/relationships" id="260" r:id="R7064d30c0da04946"/>
    <p:sldId xmlns:r="http://schemas.openxmlformats.org/officeDocument/2006/relationships" id="261" r:id="R60fe1311ee614d6d"/>
    <p:sldId xmlns:r="http://schemas.openxmlformats.org/officeDocument/2006/relationships" id="262" r:id="R534a8613d15c4f04"/>
    <p:sldId xmlns:r="http://schemas.openxmlformats.org/officeDocument/2006/relationships" id="263" r:id="Rb9e440c812fc4f81"/>
    <p:sldId xmlns:r="http://schemas.openxmlformats.org/officeDocument/2006/relationships" id="264" r:id="R282bad5cbfe14e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7c71bafcd84be0" /><Relationship Type="http://schemas.openxmlformats.org/officeDocument/2006/relationships/slideMaster" Target="/ppt/slideMasters/slideMaster1.xml" Id="R8a98e09de7b14baf" /><Relationship Type="http://schemas.openxmlformats.org/officeDocument/2006/relationships/notesMaster" Target="/ppt/notesMasters/notesMaster1.xml" Id="R70c7e9a54a2544f3" /><Relationship Type="http://schemas.openxmlformats.org/officeDocument/2006/relationships/presProps" Target="/ppt/presProps.xml" Id="Re606ee8282074b4a" /><Relationship Type="http://schemas.openxmlformats.org/officeDocument/2006/relationships/tableStyles" Target="/ppt/tableStyles.xml" Id="R860b369b2b4445e6" /><Relationship Type="http://schemas.openxmlformats.org/officeDocument/2006/relationships/slide" Target="/ppt/slides/slide1.xml" Id="Re9a3150398fb47d8" /><Relationship Type="http://schemas.openxmlformats.org/officeDocument/2006/relationships/slide" Target="/ppt/slides/slide2.xml" Id="Reb3d0b2c981044e9" /><Relationship Type="http://schemas.openxmlformats.org/officeDocument/2006/relationships/slide" Target="/ppt/slides/slide3.xml" Id="R2267ea472867462e" /><Relationship Type="http://schemas.openxmlformats.org/officeDocument/2006/relationships/slide" Target="/ppt/slides/slide4.xml" Id="R1f9081961f3145ea" /><Relationship Type="http://schemas.openxmlformats.org/officeDocument/2006/relationships/slide" Target="/ppt/slides/slide5.xml" Id="R7064d30c0da04946" /><Relationship Type="http://schemas.openxmlformats.org/officeDocument/2006/relationships/slide" Target="/ppt/slides/slide6.xml" Id="R60fe1311ee614d6d" /><Relationship Type="http://schemas.openxmlformats.org/officeDocument/2006/relationships/slide" Target="/ppt/slides/slide7.xml" Id="R534a8613d15c4f04" /><Relationship Type="http://schemas.openxmlformats.org/officeDocument/2006/relationships/slide" Target="/ppt/slides/slide8.xml" Id="Rb9e440c812fc4f81" /><Relationship Type="http://schemas.openxmlformats.org/officeDocument/2006/relationships/slide" Target="/ppt/slides/slide9.xml" Id="R282bad5cbfe14e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d0d269025b4d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008a21ae22437f" /><Relationship Type="http://schemas.openxmlformats.org/officeDocument/2006/relationships/notesMaster" Target="/ppt/notesMasters/notesMaster1.xml" Id="Ra3cb88ed9a944a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408b18cfa4462f" /><Relationship Type="http://schemas.openxmlformats.org/officeDocument/2006/relationships/notesMaster" Target="/ppt/notesMasters/notesMaster1.xml" Id="R799441462c4c48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4cb158e63247b1" /><Relationship Type="http://schemas.openxmlformats.org/officeDocument/2006/relationships/notesMaster" Target="/ppt/notesMasters/notesMaster1.xml" Id="Ra2456ef6791c4e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7ff74c3ba34956" /><Relationship Type="http://schemas.openxmlformats.org/officeDocument/2006/relationships/notesMaster" Target="/ppt/notesMasters/notesMaster1.xml" Id="R39e90172480748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3a6eb1fac741e6" /><Relationship Type="http://schemas.openxmlformats.org/officeDocument/2006/relationships/notesMaster" Target="/ppt/notesMasters/notesMaster1.xml" Id="R017dcac558eb41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0601ae4dcc414d" /><Relationship Type="http://schemas.openxmlformats.org/officeDocument/2006/relationships/notesMaster" Target="/ppt/notesMasters/notesMaster1.xml" Id="Rc6ca15f46c1446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70eb9f877d4692" /><Relationship Type="http://schemas.openxmlformats.org/officeDocument/2006/relationships/notesMaster" Target="/ppt/notesMasters/notesMaster1.xml" Id="R74a0230481da4f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bcacfd2ca24414" /><Relationship Type="http://schemas.openxmlformats.org/officeDocument/2006/relationships/notesMaster" Target="/ppt/notesMasters/notesMaster1.xml" Id="R306bc1a4c55d41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d3f354e6084749" /><Relationship Type="http://schemas.openxmlformats.org/officeDocument/2006/relationships/notesMaster" Target="/ppt/notesMasters/notesMaster1.xml" Id="Rc87d5512356544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Projeto de Rodrigo Correa. Explicar que a análise retrospectiva compara 12 ativos brasileiros de 2021 a 2023. Fonte: data/b3_2021_2023.csv e data/manifest.json.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quatro grupos são didáticos, não a classificação oficial da B3. KLBN11 é uma unit. Snapshot: 745 pregões por ativo e 8.940 registros, primeiro em 04/01/2021 e último em 28/12/2023. Fonte: data/manifest.json.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src/etl.py, src/schema.py, src/database.py e docs/PUBLICACAO.md. A configuração usa st.secrets. A aquisição consulta .SA, mantém Adj Close e faz até três tentativas. EMBR3 tem alias de aquisição EMBJ3.SA.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Retornos simples acumulados de Adj Close, entre 04/01/2021 e 28/12/2023. Não há taxas e impostos. Dados e cálculos: docs/resultados.json, src/analytics.py e data/b3_2021_2023.csv.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série da carteira é a média das 12 séries normalizadas com pesos iguais no início e sem rebalanceamento. O gráfico usa pontos mensais para apresentação; o dashboard usa a série diária completa. Fonte: docs/resultados.json, src/analytics.py.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Volatilidade individual: desvio padrão amostral de retornos simples diários × raiz de 252. A maior queda desde o topo foi de EMBR3: -58,27%. Fonte: docs/resultados.json e src/analytics.py.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Fórmulas completas e definições constam no README e na aba Metodologia. A SMA usa histórico anterior ao filtro, sem usar preços futuros. O primeiro retorno de cada recorte é excluído.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o dashboard. Selecionar Energia, recortar 2022, comparar os ativos, abrir distribuição e drawdown, observar SMA, exportar CSV e restaurar filtros. Captura real da aplicação publicada em docs/dashboard-publicado.png. A aba Conclusões responde às cinco perguntas oficiais.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atribuir causalidade aos resultados. O universo definido pelo enunciado pode ter viés de seleção. Volume Financeiro é estimado por Close × Volume. Setores são agrupamentos didáticos. Fonte: README, VALIDACAO.md e docs/ROTEIRO_APRESENTACAO.md.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a631e9e844b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15b14533341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d1ba842ed948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811df8fbbc4d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9a275ad3f48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2aeda835245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3E8C98-0809-4445-96C7-2A3A9722B0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53A74A-2013-4D27-B283-1F9672C211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A05B95C-8059-4E6B-9214-7F66FFBD77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C40713-08C0-4B27-B612-E6FF68F3A8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37CEBE-D86A-49F1-AED8-A07338A0B3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994BFD-0515-4AFA-9C7B-862417938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63F663-C28E-493C-94B5-8B107AC14E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F890A1-2266-4C5A-91DA-55BC3EF32A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800733-DE9B-4BB6-AF24-2A9040276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D81A5C-5A0D-43AD-8D5D-0DFDA73F97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fc9a4c0e7c4bda" /><Relationship Type="http://schemas.openxmlformats.org/officeDocument/2006/relationships/slideLayout" Target="/ppt/slideLayouts/slideLayout1.xml" Id="Re5d7fbf913394837" /><Relationship Type="http://schemas.openxmlformats.org/officeDocument/2006/relationships/slideLayout" Target="/ppt/slideLayouts/slideLayout2.xml" Id="R606bf17de3864fce" /><Relationship Type="http://schemas.openxmlformats.org/officeDocument/2006/relationships/slideLayout" Target="/ppt/slideLayouts/slideLayout3.xml" Id="R22b649d3ae23472a" /><Relationship Type="http://schemas.openxmlformats.org/officeDocument/2006/relationships/slideLayout" Target="/ppt/slideLayouts/slideLayout4.xml" Id="Rb6c7a4a07b134335" /><Relationship Type="http://schemas.openxmlformats.org/officeDocument/2006/relationships/slideLayout" Target="/ppt/slideLayouts/slideLayout5.xml" Id="R0d83bea5fcbd4084" /><Relationship Type="http://schemas.openxmlformats.org/officeDocument/2006/relationships/slideLayout" Target="/ppt/slideLayouts/slideLayout6.xml" Id="R381fe006288f46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d7fbf913394837"/>
    <p:sldLayoutId xmlns:r="http://schemas.openxmlformats.org/officeDocument/2006/relationships" id="2147483650" r:id="R606bf17de3864fce"/>
    <p:sldLayoutId xmlns:r="http://schemas.openxmlformats.org/officeDocument/2006/relationships" id="2147483651" r:id="R22b649d3ae23472a"/>
    <p:sldLayoutId xmlns:r="http://schemas.openxmlformats.org/officeDocument/2006/relationships" id="2147483652" r:id="Rb6c7a4a07b134335"/>
    <p:sldLayoutId xmlns:r="http://schemas.openxmlformats.org/officeDocument/2006/relationships" id="2147483653" r:id="R0d83bea5fcbd4084"/>
    <p:sldLayoutId xmlns:r="http://schemas.openxmlformats.org/officeDocument/2006/relationships" id="2147483654" r:id="R381fe006288f46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54bd4ad5c4d1c" /><Relationship Type="http://schemas.openxmlformats.org/officeDocument/2006/relationships/notesSlide" Target="/ppt/notesSlides/notesSlide1.xml" Id="R16d2d8b46ba24f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eacf246765426c" /><Relationship Type="http://schemas.openxmlformats.org/officeDocument/2006/relationships/notesSlide" Target="/ppt/notesSlides/notesSlide2.xml" Id="Rd3c3942168f44f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1846a6e054709" /><Relationship Type="http://schemas.openxmlformats.org/officeDocument/2006/relationships/notesSlide" Target="/ppt/notesSlides/notesSlide3.xml" Id="R794a67020fa243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7c67a37da14bf0" /><Relationship Type="http://schemas.openxmlformats.org/officeDocument/2006/relationships/chart" Target="/ppt/slides/charts/chart1.xml" Id="Rae04da1901fe4311" /><Relationship Type="http://schemas.openxmlformats.org/officeDocument/2006/relationships/notesSlide" Target="/ppt/notesSlides/notesSlide4.xml" Id="R91ff293118bf45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f29d969e1c4243" /><Relationship Type="http://schemas.openxmlformats.org/officeDocument/2006/relationships/chart" Target="/ppt/slides/charts/chart2.xml" Id="R0c422b2bcd6c490e" /><Relationship Type="http://schemas.openxmlformats.org/officeDocument/2006/relationships/notesSlide" Target="/ppt/notesSlides/notesSlide5.xml" Id="Rdc1de61e01fe4e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f6c2d411924c6a" /><Relationship Type="http://schemas.openxmlformats.org/officeDocument/2006/relationships/chart" Target="/ppt/slides/charts/chart3.xml" Id="R72fb3e102a144529" /><Relationship Type="http://schemas.openxmlformats.org/officeDocument/2006/relationships/notesSlide" Target="/ppt/notesSlides/notesSlide6.xml" Id="R35f2f1aad8fa43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fb330c39ae4e69" /><Relationship Type="http://schemas.openxmlformats.org/officeDocument/2006/relationships/notesSlide" Target="/ppt/notesSlides/notesSlide7.xml" Id="Refe9e67c26f44c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b510d0f8f480d" /><Relationship Type="http://schemas.openxmlformats.org/officeDocument/2006/relationships/image" Target="/ppt/media/image.jpeg" Id="Rb254031877064a03" /><Relationship Type="http://schemas.openxmlformats.org/officeDocument/2006/relationships/notesSlide" Target="/ppt/notesSlides/notesSlide8.xml" Id="R5517f75cb52e4f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2f85f8540c4413" /><Relationship Type="http://schemas.openxmlformats.org/officeDocument/2006/relationships/notesSlide" Target="/ppt/notesSlides/notesSlide9.xml" Id="Rb012dca5e7f94da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Retorno acumulado</c:v>
          </c:tx>
          <c:spPr>
            <a:solidFill xmlns:a="http://schemas.openxmlformats.org/drawingml/2006/main">
              <a:srgbClr val="007F76"/>
            </a:solidFill>
          </c:spPr>
          <c:invertIfNegative val="0"/>
          <c:cat>
            <c:strRef>
              <c:f>'Chart Data'!$A$2:$A$13</c:f>
              <c:strCache>
                <c:ptCount val="12"/>
                <c:pt idx="0">
                  <c:v>PETR4</c:v>
                </c:pt>
                <c:pt idx="1">
                  <c:v>PRIO3</c:v>
                </c:pt>
                <c:pt idx="2">
                  <c:v>EMBR3</c:v>
                </c:pt>
                <c:pt idx="3">
                  <c:v>GGBR4</c:v>
                </c:pt>
                <c:pt idx="4">
                  <c:v>EGIE3</c:v>
                </c:pt>
                <c:pt idx="5">
                  <c:v>ITUB4</c:v>
                </c:pt>
                <c:pt idx="6">
                  <c:v>VALE3</c:v>
                </c:pt>
                <c:pt idx="7">
                  <c:v>WEGE3</c:v>
                </c:pt>
                <c:pt idx="8">
                  <c:v>ABEV3</c:v>
                </c:pt>
                <c:pt idx="9">
                  <c:v>RENT3</c:v>
                </c:pt>
                <c:pt idx="10">
                  <c:v>KLBN11</c:v>
                </c:pt>
                <c:pt idx="11">
                  <c:v>BBDC4</c:v>
                </c:pt>
              </c:strCache>
            </c:strRef>
          </c:cat>
          <c:val>
            <c:numRef>
              <c:f>'Chart Data'!$B$2:$B$13</c:f>
              <c:numCache>
                <c:formatCode>0%</c:formatCode>
                <c:ptCount val="12"/>
                <c:pt idx="0">
                  <c:v>2.28689416</c:v>
                </c:pt>
                <c:pt idx="1">
                  <c:v>2.0831526</c:v>
                </c:pt>
                <c:pt idx="2">
                  <c:v>1.67502989</c:v>
                </c:pt>
                <c:pt idx="3">
                  <c:v>0.30794905</c:v>
                </c:pt>
                <c:pt idx="4">
                  <c:v>0.25347379</c:v>
                </c:pt>
                <c:pt idx="5">
                  <c:v>0.24024556</c:v>
                </c:pt>
                <c:pt idx="6">
                  <c:v>0.18108768</c:v>
                </c:pt>
                <c:pt idx="7">
                  <c:v>0.03505223</c:v>
                </c:pt>
                <c:pt idx="8">
                  <c:v>0.02569589</c:v>
                </c:pt>
                <c:pt idx="9">
                  <c:v>-0.00250467</c:v>
                </c:pt>
                <c:pt idx="10">
                  <c:v>-0.00804279</c:v>
                </c:pt>
                <c:pt idx="11">
                  <c:v>-0.06928834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B4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PETR4</c:v>
          </c:tx>
          <c:spPr>
            <a:ln xmlns:a="http://schemas.openxmlformats.org/drawingml/2006/main" w="28575">
              <a:solidFill>
                <a:srgbClr val="007F76"/>
              </a:solidFill>
            </a:ln>
          </c:spPr>
          <c:marker>
            <c:symbol val="none"/>
          </c:marker>
          <c:cat>
            <c:strRef>
              <c:f>'Chart Data'!$A$2:$A$37</c:f>
              <c:strCache>
                <c:ptCount val="36"/>
                <c:pt idx="0">
                  <c:v>01/2021</c:v>
                </c:pt>
                <c:pt idx="1">
                  <c:v>02/2021</c:v>
                </c:pt>
                <c:pt idx="2">
                  <c:v>03/2021</c:v>
                </c:pt>
                <c:pt idx="3">
                  <c:v>04/2021</c:v>
                </c:pt>
                <c:pt idx="4">
                  <c:v>05/2021</c:v>
                </c:pt>
                <c:pt idx="5">
                  <c:v>06/2021</c:v>
                </c:pt>
                <c:pt idx="6">
                  <c:v>07/2021</c:v>
                </c:pt>
                <c:pt idx="7">
                  <c:v>08/2021</c:v>
                </c:pt>
                <c:pt idx="8">
                  <c:v>09/2021</c:v>
                </c:pt>
                <c:pt idx="9">
                  <c:v>10/2021</c:v>
                </c:pt>
                <c:pt idx="10">
                  <c:v>11/2021</c:v>
                </c:pt>
                <c:pt idx="11">
                  <c:v>12/2021</c:v>
                </c:pt>
                <c:pt idx="12">
                  <c:v>01/2022</c:v>
                </c:pt>
                <c:pt idx="13">
                  <c:v>02/2022</c:v>
                </c:pt>
                <c:pt idx="14">
                  <c:v>03/2022</c:v>
                </c:pt>
                <c:pt idx="15">
                  <c:v>04/2022</c:v>
                </c:pt>
                <c:pt idx="16">
                  <c:v>05/2022</c:v>
                </c:pt>
                <c:pt idx="17">
                  <c:v>06/2022</c:v>
                </c:pt>
                <c:pt idx="18">
                  <c:v>07/2022</c:v>
                </c:pt>
                <c:pt idx="19">
                  <c:v>08/2022</c:v>
                </c:pt>
                <c:pt idx="20">
                  <c:v>09/2022</c:v>
                </c:pt>
                <c:pt idx="21">
                  <c:v>10/2022</c:v>
                </c:pt>
                <c:pt idx="22">
                  <c:v>11/2022</c:v>
                </c:pt>
                <c:pt idx="23">
                  <c:v>12/2022</c:v>
                </c:pt>
                <c:pt idx="24">
                  <c:v>01/2023</c:v>
                </c:pt>
                <c:pt idx="25">
                  <c:v>02/2023</c:v>
                </c:pt>
                <c:pt idx="26">
                  <c:v>03/2023</c:v>
                </c:pt>
                <c:pt idx="27">
                  <c:v>04/2023</c:v>
                </c:pt>
                <c:pt idx="28">
                  <c:v>05/2023</c:v>
                </c:pt>
                <c:pt idx="29">
                  <c:v>06/2023</c:v>
                </c:pt>
                <c:pt idx="30">
                  <c:v>07/2023</c:v>
                </c:pt>
                <c:pt idx="31">
                  <c:v>08/2023</c:v>
                </c:pt>
                <c:pt idx="32">
                  <c:v>09/2023</c:v>
                </c:pt>
                <c:pt idx="33">
                  <c:v>10/2023</c:v>
                </c:pt>
                <c:pt idx="34">
                  <c:v>11/2023</c:v>
                </c:pt>
                <c:pt idx="35">
                  <c:v>12/2023</c:v>
                </c:pt>
              </c:strCache>
            </c:strRef>
          </c:cat>
          <c:val>
            <c:numRef>
              <c:f>'Chart Data'!$B$2:$B$37</c:f>
              <c:numCache>
                <c:formatCode>0</c:formatCode>
                <c:ptCount val="36"/>
                <c:pt idx="0">
                  <c:v>92.321</c:v>
                </c:pt>
                <c:pt idx="1">
                  <c:v>76.9284</c:v>
                </c:pt>
                <c:pt idx="2">
                  <c:v>83.3622</c:v>
                </c:pt>
                <c:pt idx="3">
                  <c:v>84.4516</c:v>
                </c:pt>
                <c:pt idx="4">
                  <c:v>96.0717</c:v>
                </c:pt>
                <c:pt idx="5">
                  <c:v>105.2248</c:v>
                </c:pt>
                <c:pt idx="6">
                  <c:v>96.2147</c:v>
                </c:pt>
                <c:pt idx="7">
                  <c:v>103.006</c:v>
                </c:pt>
                <c:pt idx="8">
                  <c:v>103.1575</c:v>
                </c:pt>
                <c:pt idx="9">
                  <c:v>102.8545</c:v>
                </c:pt>
                <c:pt idx="10">
                  <c:v>111.492</c:v>
                </c:pt>
                <c:pt idx="11">
                  <c:v>121.0751</c:v>
                </c:pt>
                <c:pt idx="12">
                  <c:v>137.6724</c:v>
                </c:pt>
                <c:pt idx="13">
                  <c:v>144.6943</c:v>
                </c:pt>
                <c:pt idx="14">
                  <c:v>142.3536</c:v>
                </c:pt>
                <c:pt idx="15">
                  <c:v>140.9757</c:v>
                </c:pt>
                <c:pt idx="16">
                  <c:v>155.9586</c:v>
                </c:pt>
                <c:pt idx="17">
                  <c:v>144.9077</c:v>
                </c:pt>
                <c:pt idx="18">
                  <c:v>177.1786</c:v>
                </c:pt>
                <c:pt idx="19">
                  <c:v>211.7249</c:v>
                </c:pt>
                <c:pt idx="20">
                  <c:v>189.8707</c:v>
                </c:pt>
                <c:pt idx="21">
                  <c:v>189.9344</c:v>
                </c:pt>
                <c:pt idx="22">
                  <c:v>181.731</c:v>
                </c:pt>
                <c:pt idx="23">
                  <c:v>167.0071</c:v>
                </c:pt>
                <c:pt idx="24">
                  <c:v>177.7092</c:v>
                </c:pt>
                <c:pt idx="25">
                  <c:v>172.0514</c:v>
                </c:pt>
                <c:pt idx="26">
                  <c:v>159.8497</c:v>
                </c:pt>
                <c:pt idx="27">
                  <c:v>181.9846</c:v>
                </c:pt>
                <c:pt idx="28">
                  <c:v>200.5671</c:v>
                </c:pt>
                <c:pt idx="29">
                  <c:v>241.6</c:v>
                </c:pt>
                <c:pt idx="30">
                  <c:v>254.5268</c:v>
                </c:pt>
                <c:pt idx="31">
                  <c:v>271.2785</c:v>
                </c:pt>
                <c:pt idx="32">
                  <c:v>294.2106</c:v>
                </c:pt>
                <c:pt idx="33">
                  <c:v>295.06</c:v>
                </c:pt>
                <c:pt idx="34">
                  <c:v>316.9504</c:v>
                </c:pt>
                <c:pt idx="35">
                  <c:v>328.6894</c:v>
                </c:pt>
              </c:numCache>
            </c:numRef>
          </c:val>
        </c:ser>
        <c:ser>
          <c:idx val="1"/>
          <c:order val="1"/>
          <c:tx>
            <c:v>BBDC4</c:v>
          </c:tx>
          <c:spPr>
            <a:ln xmlns:a="http://schemas.openxmlformats.org/drawingml/2006/main" w="28575">
              <a:solidFill>
                <a:srgbClr val="B85450"/>
              </a:solidFill>
            </a:ln>
          </c:spPr>
          <c:marker>
            <c:symbol val="none"/>
          </c:marker>
          <c:cat>
            <c:strRef>
              <c:f>'Chart Data'!$C$2:$C$37</c:f>
              <c:strCache>
                <c:ptCount val="36"/>
                <c:pt idx="0">
                  <c:v>01/2021</c:v>
                </c:pt>
                <c:pt idx="1">
                  <c:v>02/2021</c:v>
                </c:pt>
                <c:pt idx="2">
                  <c:v>03/2021</c:v>
                </c:pt>
                <c:pt idx="3">
                  <c:v>04/2021</c:v>
                </c:pt>
                <c:pt idx="4">
                  <c:v>05/2021</c:v>
                </c:pt>
                <c:pt idx="5">
                  <c:v>06/2021</c:v>
                </c:pt>
                <c:pt idx="6">
                  <c:v>07/2021</c:v>
                </c:pt>
                <c:pt idx="7">
                  <c:v>08/2021</c:v>
                </c:pt>
                <c:pt idx="8">
                  <c:v>09/2021</c:v>
                </c:pt>
                <c:pt idx="9">
                  <c:v>10/2021</c:v>
                </c:pt>
                <c:pt idx="10">
                  <c:v>11/2021</c:v>
                </c:pt>
                <c:pt idx="11">
                  <c:v>12/2021</c:v>
                </c:pt>
                <c:pt idx="12">
                  <c:v>01/2022</c:v>
                </c:pt>
                <c:pt idx="13">
                  <c:v>02/2022</c:v>
                </c:pt>
                <c:pt idx="14">
                  <c:v>03/2022</c:v>
                </c:pt>
                <c:pt idx="15">
                  <c:v>04/2022</c:v>
                </c:pt>
                <c:pt idx="16">
                  <c:v>05/2022</c:v>
                </c:pt>
                <c:pt idx="17">
                  <c:v>06/2022</c:v>
                </c:pt>
                <c:pt idx="18">
                  <c:v>07/2022</c:v>
                </c:pt>
                <c:pt idx="19">
                  <c:v>08/2022</c:v>
                </c:pt>
                <c:pt idx="20">
                  <c:v>09/2022</c:v>
                </c:pt>
                <c:pt idx="21">
                  <c:v>10/2022</c:v>
                </c:pt>
                <c:pt idx="22">
                  <c:v>11/2022</c:v>
                </c:pt>
                <c:pt idx="23">
                  <c:v>12/2022</c:v>
                </c:pt>
                <c:pt idx="24">
                  <c:v>01/2023</c:v>
                </c:pt>
                <c:pt idx="25">
                  <c:v>02/2023</c:v>
                </c:pt>
                <c:pt idx="26">
                  <c:v>03/2023</c:v>
                </c:pt>
                <c:pt idx="27">
                  <c:v>04/2023</c:v>
                </c:pt>
                <c:pt idx="28">
                  <c:v>05/2023</c:v>
                </c:pt>
                <c:pt idx="29">
                  <c:v>06/2023</c:v>
                </c:pt>
                <c:pt idx="30">
                  <c:v>07/2023</c:v>
                </c:pt>
                <c:pt idx="31">
                  <c:v>08/2023</c:v>
                </c:pt>
                <c:pt idx="32">
                  <c:v>09/2023</c:v>
                </c:pt>
                <c:pt idx="33">
                  <c:v>10/2023</c:v>
                </c:pt>
                <c:pt idx="34">
                  <c:v>11/2023</c:v>
                </c:pt>
                <c:pt idx="35">
                  <c:v>12/2023</c:v>
                </c:pt>
              </c:strCache>
            </c:strRef>
          </c:cat>
          <c:val>
            <c:numRef>
              <c:f>'Chart Data'!$D$2:$D$37</c:f>
              <c:numCache>
                <c:formatCode>0</c:formatCode>
                <c:ptCount val="36"/>
                <c:pt idx="0">
                  <c:v>93.6728</c:v>
                </c:pt>
                <c:pt idx="1">
                  <c:v>87.2255</c:v>
                </c:pt>
                <c:pt idx="2">
                  <c:v>101.6094</c:v>
                </c:pt>
                <c:pt idx="3">
                  <c:v>99.6519</c:v>
                </c:pt>
                <c:pt idx="4">
                  <c:v>110.7262</c:v>
                </c:pt>
                <c:pt idx="5">
                  <c:v>107.6654</c:v>
                </c:pt>
                <c:pt idx="6">
                  <c:v>103.6941</c:v>
                </c:pt>
                <c:pt idx="7">
                  <c:v>99.0673</c:v>
                </c:pt>
                <c:pt idx="8">
                  <c:v>89.2123</c:v>
                </c:pt>
                <c:pt idx="9">
                  <c:v>85.3049</c:v>
                </c:pt>
                <c:pt idx="10">
                  <c:v>85.4264</c:v>
                </c:pt>
                <c:pt idx="11">
                  <c:v>83.5236</c:v>
                </c:pt>
                <c:pt idx="12">
                  <c:v>99.2281</c:v>
                </c:pt>
                <c:pt idx="13">
                  <c:v>88.6388</c:v>
                </c:pt>
                <c:pt idx="14">
                  <c:v>96.8742</c:v>
                </c:pt>
                <c:pt idx="15">
                  <c:v>86.3019</c:v>
                </c:pt>
                <c:pt idx="16">
                  <c:v>98.5015</c:v>
                </c:pt>
                <c:pt idx="17">
                  <c:v>83.5878</c:v>
                </c:pt>
                <c:pt idx="18">
                  <c:v>84.7982</c:v>
                </c:pt>
                <c:pt idx="19">
                  <c:v>92.3423</c:v>
                </c:pt>
                <c:pt idx="20">
                  <c:v>96.7241</c:v>
                </c:pt>
                <c:pt idx="21">
                  <c:v>96.9081</c:v>
                </c:pt>
                <c:pt idx="22">
                  <c:v>76.0958</c:v>
                </c:pt>
                <c:pt idx="23">
                  <c:v>74.0867</c:v>
                </c:pt>
                <c:pt idx="24">
                  <c:v>71.4105</c:v>
                </c:pt>
                <c:pt idx="25">
                  <c:v>66.7146</c:v>
                </c:pt>
                <c:pt idx="26">
                  <c:v>67.2718</c:v>
                </c:pt>
                <c:pt idx="27">
                  <c:v>70.8497</c:v>
                </c:pt>
                <c:pt idx="28">
                  <c:v>79.4517</c:v>
                </c:pt>
                <c:pt idx="29">
                  <c:v>85.3847</c:v>
                </c:pt>
                <c:pt idx="30">
                  <c:v>86.5732</c:v>
                </c:pt>
                <c:pt idx="31">
                  <c:v>77.7759</c:v>
                </c:pt>
                <c:pt idx="32">
                  <c:v>74.4885</c:v>
                </c:pt>
                <c:pt idx="33">
                  <c:v>72.9717</c:v>
                </c:pt>
                <c:pt idx="34">
                  <c:v>84.9781</c:v>
                </c:pt>
                <c:pt idx="35">
                  <c:v>93.0712</c:v>
                </c:pt>
              </c:numCache>
            </c:numRef>
          </c:val>
        </c:ser>
        <c:ser>
          <c:idx val="2"/>
          <c:order val="2"/>
          <c:tx>
            <c:v>Carteira</c:v>
          </c:tx>
          <c:spPr>
            <a:ln xmlns:a="http://schemas.openxmlformats.org/drawingml/2006/main" w="28575">
              <a:solidFill>
                <a:srgbClr val="645AB5"/>
              </a:solidFill>
            </a:ln>
          </c:spPr>
          <c:marker>
            <c:symbol val="none"/>
          </c:marker>
          <c:cat>
            <c:strRef>
              <c:f>'Chart Data'!$E$2:$E$37</c:f>
              <c:strCache>
                <c:ptCount val="36"/>
                <c:pt idx="0">
                  <c:v>01/2021</c:v>
                </c:pt>
                <c:pt idx="1">
                  <c:v>02/2021</c:v>
                </c:pt>
                <c:pt idx="2">
                  <c:v>03/2021</c:v>
                </c:pt>
                <c:pt idx="3">
                  <c:v>04/2021</c:v>
                </c:pt>
                <c:pt idx="4">
                  <c:v>05/2021</c:v>
                </c:pt>
                <c:pt idx="5">
                  <c:v>06/2021</c:v>
                </c:pt>
                <c:pt idx="6">
                  <c:v>07/2021</c:v>
                </c:pt>
                <c:pt idx="7">
                  <c:v>08/2021</c:v>
                </c:pt>
                <c:pt idx="8">
                  <c:v>09/2021</c:v>
                </c:pt>
                <c:pt idx="9">
                  <c:v>10/2021</c:v>
                </c:pt>
                <c:pt idx="10">
                  <c:v>11/2021</c:v>
                </c:pt>
                <c:pt idx="11">
                  <c:v>12/2021</c:v>
                </c:pt>
                <c:pt idx="12">
                  <c:v>01/2022</c:v>
                </c:pt>
                <c:pt idx="13">
                  <c:v>02/2022</c:v>
                </c:pt>
                <c:pt idx="14">
                  <c:v>03/2022</c:v>
                </c:pt>
                <c:pt idx="15">
                  <c:v>04/2022</c:v>
                </c:pt>
                <c:pt idx="16">
                  <c:v>05/2022</c:v>
                </c:pt>
                <c:pt idx="17">
                  <c:v>06/2022</c:v>
                </c:pt>
                <c:pt idx="18">
                  <c:v>07/2022</c:v>
                </c:pt>
                <c:pt idx="19">
                  <c:v>08/2022</c:v>
                </c:pt>
                <c:pt idx="20">
                  <c:v>09/2022</c:v>
                </c:pt>
                <c:pt idx="21">
                  <c:v>10/2022</c:v>
                </c:pt>
                <c:pt idx="22">
                  <c:v>11/2022</c:v>
                </c:pt>
                <c:pt idx="23">
                  <c:v>12/2022</c:v>
                </c:pt>
                <c:pt idx="24">
                  <c:v>01/2023</c:v>
                </c:pt>
                <c:pt idx="25">
                  <c:v>02/2023</c:v>
                </c:pt>
                <c:pt idx="26">
                  <c:v>03/2023</c:v>
                </c:pt>
                <c:pt idx="27">
                  <c:v>04/2023</c:v>
                </c:pt>
                <c:pt idx="28">
                  <c:v>05/2023</c:v>
                </c:pt>
                <c:pt idx="29">
                  <c:v>06/2023</c:v>
                </c:pt>
                <c:pt idx="30">
                  <c:v>07/2023</c:v>
                </c:pt>
                <c:pt idx="31">
                  <c:v>08/2023</c:v>
                </c:pt>
                <c:pt idx="32">
                  <c:v>09/2023</c:v>
                </c:pt>
                <c:pt idx="33">
                  <c:v>10/2023</c:v>
                </c:pt>
                <c:pt idx="34">
                  <c:v>11/2023</c:v>
                </c:pt>
                <c:pt idx="35">
                  <c:v>12/2023</c:v>
                </c:pt>
              </c:strCache>
            </c:strRef>
          </c:cat>
          <c:val>
            <c:numRef>
              <c:f>'Chart Data'!$F$2:$F$37</c:f>
              <c:numCache>
                <c:formatCode>0</c:formatCode>
                <c:ptCount val="36"/>
                <c:pt idx="0">
                  <c:v>97.7383</c:v>
                </c:pt>
                <c:pt idx="1">
                  <c:v>99.8617</c:v>
                </c:pt>
                <c:pt idx="2">
                  <c:v>107.1401</c:v>
                </c:pt>
                <c:pt idx="3">
                  <c:v>110.0122</c:v>
                </c:pt>
                <c:pt idx="4">
                  <c:v>116.4257</c:v>
                </c:pt>
                <c:pt idx="5">
                  <c:v>116.9243</c:v>
                </c:pt>
                <c:pt idx="6">
                  <c:v>113.9442</c:v>
                </c:pt>
                <c:pt idx="7">
                  <c:v>118.3425</c:v>
                </c:pt>
                <c:pt idx="8">
                  <c:v>117.4207</c:v>
                </c:pt>
                <c:pt idx="9">
                  <c:v>111.975</c:v>
                </c:pt>
                <c:pt idx="10">
                  <c:v>107.5087</c:v>
                </c:pt>
                <c:pt idx="11">
                  <c:v>116.0204</c:v>
                </c:pt>
                <c:pt idx="12">
                  <c:v>118.2844</c:v>
                </c:pt>
                <c:pt idx="13">
                  <c:v>115.561</c:v>
                </c:pt>
                <c:pt idx="14">
                  <c:v>118.5504</c:v>
                </c:pt>
                <c:pt idx="15">
                  <c:v>111.0301</c:v>
                </c:pt>
                <c:pt idx="16">
                  <c:v>114.681</c:v>
                </c:pt>
                <c:pt idx="17">
                  <c:v>101.2535</c:v>
                </c:pt>
                <c:pt idx="18">
                  <c:v>108.3319</c:v>
                </c:pt>
                <c:pt idx="19">
                  <c:v>115.7032</c:v>
                </c:pt>
                <c:pt idx="20">
                  <c:v>114.6392</c:v>
                </c:pt>
                <c:pt idx="21">
                  <c:v>126.5846</c:v>
                </c:pt>
                <c:pt idx="22">
                  <c:v>126.1654</c:v>
                </c:pt>
                <c:pt idx="23">
                  <c:v>124.1128</c:v>
                </c:pt>
                <c:pt idx="24">
                  <c:v>132.0275</c:v>
                </c:pt>
                <c:pt idx="25">
                  <c:v>123.7297</c:v>
                </c:pt>
                <c:pt idx="26">
                  <c:v>124.6405</c:v>
                </c:pt>
                <c:pt idx="27">
                  <c:v>127.9788</c:v>
                </c:pt>
                <c:pt idx="28">
                  <c:v>129.5449</c:v>
                </c:pt>
                <c:pt idx="29">
                  <c:v>138.3758</c:v>
                </c:pt>
                <c:pt idx="30">
                  <c:v>146.9584</c:v>
                </c:pt>
                <c:pt idx="31">
                  <c:v>144.854</c:v>
                </c:pt>
                <c:pt idx="32">
                  <c:v>143.4897</c:v>
                </c:pt>
                <c:pt idx="33">
                  <c:v>140.0018</c:v>
                </c:pt>
                <c:pt idx="34">
                  <c:v>151.6403</c:v>
                </c:pt>
                <c:pt idx="35">
                  <c:v>158.4062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42B4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Volatilidade anualizada</c:v>
          </c:tx>
          <c:spPr>
            <a:solidFill xmlns:a="http://schemas.openxmlformats.org/drawingml/2006/main">
              <a:srgbClr val="645AB5"/>
            </a:solidFill>
          </c:spPr>
          <c:invertIfNegative val="0"/>
          <c:cat>
            <c:strRef>
              <c:f>'Chart Data'!$A$2:$A$13</c:f>
              <c:strCache>
                <c:ptCount val="12"/>
                <c:pt idx="0">
                  <c:v>PETR4</c:v>
                </c:pt>
                <c:pt idx="1">
                  <c:v>PRIO3</c:v>
                </c:pt>
                <c:pt idx="2">
                  <c:v>EMBR3</c:v>
                </c:pt>
                <c:pt idx="3">
                  <c:v>GGBR4</c:v>
                </c:pt>
                <c:pt idx="4">
                  <c:v>EGIE3</c:v>
                </c:pt>
                <c:pt idx="5">
                  <c:v>ITUB4</c:v>
                </c:pt>
                <c:pt idx="6">
                  <c:v>VALE3</c:v>
                </c:pt>
                <c:pt idx="7">
                  <c:v>WEGE3</c:v>
                </c:pt>
                <c:pt idx="8">
                  <c:v>ABEV3</c:v>
                </c:pt>
                <c:pt idx="9">
                  <c:v>RENT3</c:v>
                </c:pt>
                <c:pt idx="10">
                  <c:v>KLBN11</c:v>
                </c:pt>
                <c:pt idx="11">
                  <c:v>BBDC4</c:v>
                </c:pt>
              </c:strCache>
            </c:strRef>
          </c:cat>
          <c:val>
            <c:numRef>
              <c:f>'Chart Data'!$B$2:$B$13</c:f>
              <c:numCache>
                <c:formatCode>0%</c:formatCode>
                <c:ptCount val="12"/>
                <c:pt idx="0">
                  <c:v>0.39422305</c:v>
                </c:pt>
                <c:pt idx="1">
                  <c:v>0.46780888</c:v>
                </c:pt>
                <c:pt idx="2">
                  <c:v>0.46821136</c:v>
                </c:pt>
                <c:pt idx="3">
                  <c:v>0.35556356</c:v>
                </c:pt>
                <c:pt idx="4">
                  <c:v>0.18762154</c:v>
                </c:pt>
                <c:pt idx="5">
                  <c:v>0.28834485</c:v>
                </c:pt>
                <c:pt idx="6">
                  <c:v>0.33899681</c:v>
                </c:pt>
                <c:pt idx="7">
                  <c:v>0.32826677</c:v>
                </c:pt>
                <c:pt idx="8">
                  <c:v>0.25464885</c:v>
                </c:pt>
                <c:pt idx="9">
                  <c:v>0.36889073</c:v>
                </c:pt>
                <c:pt idx="10">
                  <c:v>0.26623834</c:v>
                </c:pt>
                <c:pt idx="11">
                  <c:v>0.31384899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84FF8-3597-49A3-B91A-9A637C62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Observatório de mercado B3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0045E-6E77-4CDC-AA78-21977B89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Analytics financeiro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E8E63-F9F8-4B8A-B8BB-8C5ECD47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28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Performance e risco de 12 ativos</a:t>
            </a:r>
          </a:p>
          <a:p xmlns:a="http://schemas.openxmlformats.org/drawingml/2006/main">
            <a: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01/01/2021 a 31/12/2023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B3AE0-63A4-4E65-A59C-082959F3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Rodrigo Correa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BA98A-9AEE-4C97-A0DA-748F858E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Projeto Final de Analytics Financeiro, Linha 2</a:t>
            </a:r>
          </a:p>
        </p:txBody>
      </p:sp>
    </p:spTree>
    <p:extLst>
      <p:ext uri="{BB962C8B-B14F-4D97-AF65-F5344CB8AC3E}">
        <p14:creationId xmlns:p14="http://schemas.microsoft.com/office/powerpoint/2010/main" val="2129222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E3284-EB15-4E9F-95F1-12CE40E6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Universo e cobertura dos dados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9A196-BFEB-49DC-97E2-EE3D86ADBDDA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Grupo didático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T w="9525">
                      <a:solidFill>
                        <a:srgbClr val="DAE3EA"/>
                      </a:solidFill>
                    </a:lnT>
                    <a:lnB w="9525">
                      <a:solidFill>
                        <a:srgbClr val="DAE3EA"/>
                      </a:solidFill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Ativos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T w="9525">
                      <a:solidFill>
                        <a:srgbClr val="DAE3EA"/>
                      </a:solidFill>
                    </a:lnT>
                    <a:lnB w="9525">
                      <a:solidFill>
                        <a:srgbClr val="DAE3EA"/>
                      </a:solidFill>
                    </a:lnB>
                    <a:solidFill>
                      <a:srgbClr val="142B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Indústria e materiais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WEGE3, EMBR3, VALE3, GGBR4, KLBN11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Energia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PETR4, PRIO3, EGIE3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Financeiro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ITUB4, BBDC4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Consumo e serviços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ABEV3, RENT3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77276-8D68-497E-9359-F477C278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8.940 registros reais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51E73-5795-4E90-8C2B-6B06558D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247 pregões em 2021, 250 em 2022 e 248 em 2023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964B2-51DF-4D2F-93D9-84D155AA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Fonte: Yahoo Finance via yfinance. Snapshot adquirido em 30/10/2026.</a:t>
            </a:r>
          </a:p>
        </p:txBody>
      </p:sp>
    </p:spTree>
    <p:extLst>
      <p:ext uri="{BB962C8B-B14F-4D97-AF65-F5344CB8AC3E}">
        <p14:creationId xmlns:p14="http://schemas.microsoft.com/office/powerpoint/2010/main" val="16385616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685AF-C7AD-4324-A173-62F5E7BE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Aquisição, qualidade e contingência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94824-5357-4B27-B8B9-B34B599E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1  Aquisição diária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40DA3-F7EA-455C-B098-DDD42B24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Yahoo Finance, período fixo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e tentativas em caso de falha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4ED2B-7A8D-4201-B3B1-6661DE4B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906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2  Contrato de 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D6E3C-B1AA-4783-AEB9-A84156C3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Tipos, preços, chaves, universo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e cobertura anual validados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0CA7C-44E5-4D95-B680-C3DDF9FE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3  Snapshot auditável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4E790-72F7-4C62-A51D-9AEDCC10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CSV local e manifesto com SHA-256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para reproduzir a análise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B4C41-C456-498A-B14B-8F315DF3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4  Dashboard resiliente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177DD-74D2-4C4D-B951-183E8CEF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482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PostgreSQL prioritário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CSV automático se o banco falhar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4073B-B4A2-44C8-884E-86205C00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Módulos separados para aquisição, banco, indicadores e interface.</a:t>
            </a:r>
          </a:p>
        </p:txBody>
      </p:sp>
    </p:spTree>
    <p:extLst>
      <p:ext uri="{BB962C8B-B14F-4D97-AF65-F5344CB8AC3E}">
        <p14:creationId xmlns:p14="http://schemas.microsoft.com/office/powerpoint/2010/main" val="2177864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63200-47E2-4B2C-8477-1B2680B4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PETR4 liderou o retorno no período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15AD93D9-B05C-4B63-A6BF-8897DB39A8B8}"/>
              </a:ext>
            </a:extLst>
          </p:cNvPr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953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04da1901fe4311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F4C53-6527-4781-AC9C-924C0432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Retorno acumulado de 2021 a 2023. Preços ajustados pelo provedor.</a:t>
            </a:r>
          </a:p>
        </p:txBody>
      </p:sp>
    </p:spTree>
    <p:extLst>
      <p:ext uri="{BB962C8B-B14F-4D97-AF65-F5344CB8AC3E}">
        <p14:creationId xmlns:p14="http://schemas.microsoft.com/office/powerpoint/2010/main" val="7592341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F6C7D-0875-4E15-8975-04CA57D0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A carteira acumulou retorno de 58,41%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97D985A3-BC30-4E2B-836B-3877459CFFA7}"/>
              </a:ext>
            </a:extLst>
          </p:cNvPr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953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422b2bcd6c490e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72FAD-4B6A-42BD-AFC3-7F8B87A5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Base inicial 100 em 04/01/2021. Pontos de fechamento mensal.</a:t>
            </a:r>
          </a:p>
        </p:txBody>
      </p:sp>
    </p:spTree>
    <p:extLst>
      <p:ext uri="{BB962C8B-B14F-4D97-AF65-F5344CB8AC3E}">
        <p14:creationId xmlns:p14="http://schemas.microsoft.com/office/powerpoint/2010/main" val="618594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C3382-8D81-46A4-A706-D3210512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Volatilidade e perdas desde o topo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B9AEFE7F-4688-4F9A-82EE-201EFC80FF5D}"/>
              </a:ext>
            </a:extLst>
          </p:cNvPr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78581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fb3e102a14452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41ED0-5AC5-4491-B1FF-18635E18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33,61%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A3D6F-96AF-43F4-80E1-226D66AD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Volatilidade média</a:t>
            </a:r>
          </a:p>
          <a:p xmlns:a="http://schemas.openxmlformats.org/drawingml/2006/main">
            <a: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dos ativos, % a.a.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E4EEB-6699-4E81-ACA4-27CB1F71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14800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−58,27%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FC8C8-BEF1-4DD7-9E53-7F5C18C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72050"/>
            <a:ext cx="271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Maior drawdown</a:t>
            </a:r>
          </a:p>
          <a:p xmlns:a="http://schemas.openxmlformats.org/drawingml/2006/main">
            <a: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EMBR3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CBBEE-ECB6-4D9E-93ED-38427754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O risco de uma carteira depende também da relação entre os ativos.</a:t>
            </a:r>
          </a:p>
        </p:txBody>
      </p:sp>
    </p:spTree>
    <p:extLst>
      <p:ext uri="{BB962C8B-B14F-4D97-AF65-F5344CB8AC3E}">
        <p14:creationId xmlns:p14="http://schemas.microsoft.com/office/powerpoint/2010/main" val="1066116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603C3-AC2D-495D-937A-F953FD77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Definições que sustentam a análise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2BA5F-EB1A-42F9-8E02-CDBD21087B62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Indicador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T w="9525">
                      <a:solidFill>
                        <a:srgbClr val="DAE3EA"/>
                      </a:solidFill>
                    </a:lnT>
                    <a:lnB w="9525">
                      <a:solidFill>
                        <a:srgbClr val="DAE3EA"/>
                      </a:solidFill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Definição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T w="9525">
                      <a:solidFill>
                        <a:srgbClr val="DAE3EA"/>
                      </a:solidFill>
                    </a:lnT>
                    <a:lnB w="9525">
                      <a:solidFill>
                        <a:srgbClr val="DAE3EA"/>
                      </a:solidFill>
                    </a:lnB>
                    <a:solidFill>
                      <a:srgbClr val="142B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Base 100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100 × preço ajustado / preço inicial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Retorno acumulado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(preço final / preço inicial − 1) × 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anualizada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Desvio padrão amostral dos retornos × √252 × 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Drawdown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(preço / maior preço até a data − 1) × 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SMA 21 e SMA 50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Média dos últimos 21 ou 50 pregões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7A9CF-4EA9-4F5C-94C8-31F18901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Retornos e drawdown em percentual. SMA em reais, sobre preço ajustado.</a:t>
            </a:r>
          </a:p>
        </p:txBody>
      </p:sp>
    </p:spTree>
    <p:extLst>
      <p:ext uri="{BB962C8B-B14F-4D97-AF65-F5344CB8AC3E}">
        <p14:creationId xmlns:p14="http://schemas.microsoft.com/office/powerpoint/2010/main" val="14183328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BB2A7-320C-49DC-8F01-9015AD14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Demonstração do dashboard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500AA-A6B8-4B9B-82BF-744BF628CF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4031877064a03"/>
          <a:stretch xmlns:a="http://schemas.openxmlformats.org/drawingml/2006/main"/>
        </p:blipFill>
        <p:spPr>
          <a:xfrm xmlns:a="http://schemas.openxmlformats.org/drawingml/2006/main">
            <a:off x="609600" y="2290167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8A34D-0136-46A0-BC3A-B15C3C75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66875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Filtros e estado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94747-B67F-4C82-A089-9C77A4D0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05050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Setor, ativo e datas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Reset para o período completo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6B089-D71C-4CA2-B31C-0B29B32A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Seis visões analíticas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A0EF6-4C34-42FA-8C2A-B04548E9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5191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Base 100, risco/retorno, distribuição,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drawdown, SMA e correlação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90C65-203C-415F-82C1-85B41162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A aba Base de dados exporta exatamente o recorte selecionado.</a:t>
            </a:r>
          </a:p>
        </p:txBody>
      </p:sp>
    </p:spTree>
    <p:extLst>
      <p:ext uri="{BB962C8B-B14F-4D97-AF65-F5344CB8AC3E}">
        <p14:creationId xmlns:p14="http://schemas.microsoft.com/office/powerpoint/2010/main" val="146139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9FC9D-0ACC-4291-82E3-DB127AF5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Conclusões e limites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E0104-9593-4073-B126-CE421D14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Retorno e resiliência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1CFA5-7451-4879-8978-57478604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PETR4: Sharpe rf=0 de 1,22. EGIE3: drawdown menos severo, −17,65%.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78922-2FF2-4567-BAB6-01B025B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Limitações da interpretação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7238A-724C-46DA-A5D9-B1B3E9D6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Volume financeiro estimado, ajustes do provedor, universo fixado</a:t>
            </a:r>
          </a:p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e ausência de taxas ou impostos.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86A24-50F7-441C-B48B-60BF4137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Rodrigo Correa, github.com/rodrigodll46/projeto-final-analytics-b3</a:t>
            </a:r>
          </a:p>
        </p:txBody>
      </p:sp>
    </p:spTree>
    <p:extLst>
      <p:ext uri="{BB962C8B-B14F-4D97-AF65-F5344CB8AC3E}">
        <p14:creationId xmlns:p14="http://schemas.microsoft.com/office/powerpoint/2010/main" val="96854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2026-10-31T16:13:46.5660000Z</dcterms:created>
  <dcterms:modified xsi:type="dcterms:W3CDTF">2026-10-31T16:13:46.5660000Z</dcterms:modified>
</coreProperties>
</file>